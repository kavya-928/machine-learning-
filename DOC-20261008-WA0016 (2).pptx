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33.png"/><Relationship Id="rId8" Type="http://schemas.openxmlformats.org/officeDocument/2006/relationships/image" Target="../media/image34.png"/><Relationship Id="rId9" Type="http://schemas.openxmlformats.org/officeDocument/2006/relationships/image" Target="../media/image35.png"/><Relationship Id="rId10" Type="http://schemas.openxmlformats.org/officeDocument/2006/relationships/image" Target="../media/image3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2.png"/><Relationship Id="rId9" Type="http://schemas.openxmlformats.org/officeDocument/2006/relationships/image" Target="../media/image43.png"/><Relationship Id="rId10" Type="http://schemas.openxmlformats.org/officeDocument/2006/relationships/image" Target="../media/image44.png"/><Relationship Id="rId11" Type="http://schemas.openxmlformats.org/officeDocument/2006/relationships/image" Target="../media/image45.png"/><Relationship Id="rId12" Type="http://schemas.openxmlformats.org/officeDocument/2006/relationships/image" Target="../media/image4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666750"/>
            <a:ext cx="2533650" cy="2457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8940" y="2076450"/>
            <a:ext cx="8177529" cy="9067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8" b="1" sz="7150">
                <a:solidFill>
                  <a:srgbClr val="000000"/>
                </a:solidFill>
                <a:latin typeface="Noto Serif"/>
              </a:rPr>
              <a:t>Future Scope 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48530" y="3336290"/>
            <a:ext cx="9657080" cy="9055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b="1" sz="7150">
                <a:solidFill>
                  <a:srgbClr val="000000"/>
                </a:solidFill>
                <a:latin typeface="Noto Serif"/>
              </a:rPr>
              <a:t>Publication Potential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6211570"/>
            <a:ext cx="3690620" cy="527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4150">
                <a:solidFill>
                  <a:srgbClr val="000000"/>
                </a:solidFill>
                <a:latin typeface="Roboto"/>
              </a:rPr>
              <a:t>Name: Kavya.N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6940550"/>
            <a:ext cx="8058150" cy="527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8" sz="4150">
                <a:solidFill>
                  <a:srgbClr val="000000"/>
                </a:solidFill>
                <a:latin typeface="Roboto"/>
              </a:rPr>
              <a:t>Reg No: 1925260275Department: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7668259"/>
            <a:ext cx="7762240" cy="527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0" sz="4150">
                <a:solidFill>
                  <a:srgbClr val="000000"/>
                </a:solidFill>
                <a:latin typeface="Roboto"/>
              </a:rPr>
              <a:t>B.Tech CSE (AI&amp;ML)Guided by: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8397240"/>
            <a:ext cx="3895090" cy="527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2" sz="4150">
                <a:solidFill>
                  <a:srgbClr val="000000"/>
                </a:solidFill>
                <a:latin typeface="Roboto"/>
              </a:rPr>
              <a:t>Dr.K.Siva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752590" y="624840"/>
            <a:ext cx="5648959" cy="838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0" sz="6600">
                <a:solidFill>
                  <a:srgbClr val="000000"/>
                </a:solidFill>
                <a:latin typeface="Noto Serif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89760" y="2457450"/>
            <a:ext cx="15097760" cy="506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" sz="4000">
                <a:solidFill>
                  <a:srgbClr val="000000"/>
                </a:solidFill>
                <a:latin typeface="Roboto"/>
              </a:rPr>
              <a:t>Future scope refers to possible improvements and developments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89760" y="3286760"/>
            <a:ext cx="3070860" cy="506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0" sz="4000">
                <a:solidFill>
                  <a:srgbClr val="000000"/>
                </a:solidFill>
                <a:latin typeface="Roboto"/>
              </a:rPr>
              <a:t>existing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9760" y="4114800"/>
            <a:ext cx="11606530" cy="506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" sz="4000">
                <a:solidFill>
                  <a:srgbClr val="000000"/>
                </a:solidFill>
                <a:latin typeface="Roboto"/>
              </a:rPr>
              <a:t>Research can be improved using new technologies.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9760" y="4944110"/>
            <a:ext cx="9493250" cy="506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4000">
                <a:solidFill>
                  <a:srgbClr val="000000"/>
                </a:solidFill>
                <a:latin typeface="Roboto"/>
              </a:rPr>
              <a:t>Larger datasets can provide better results.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9760" y="5772150"/>
            <a:ext cx="11182350" cy="506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4000">
                <a:solidFill>
                  <a:srgbClr val="000000"/>
                </a:solidFill>
                <a:latin typeface="Roboto"/>
              </a:rPr>
              <a:t>Real-time data can improve practical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760" y="6601459"/>
            <a:ext cx="11606530" cy="506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4000">
                <a:solidFill>
                  <a:srgbClr val="000000"/>
                </a:solidFill>
                <a:latin typeface="Roboto"/>
              </a:rPr>
              <a:t>Advanced AI techniques can increase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9760" y="7429500"/>
            <a:ext cx="15661640" cy="5067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4000">
                <a:solidFill>
                  <a:srgbClr val="000000"/>
                </a:solidFill>
                <a:latin typeface="Roboto"/>
              </a:rPr>
              <a:t>Example: “AI can use real-time industrial data to identify changing 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9760" y="8258809"/>
            <a:ext cx="2592069" cy="50673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1" sz="4000">
                <a:solidFill>
                  <a:srgbClr val="000000"/>
                </a:solidFill>
                <a:latin typeface="Roboto"/>
              </a:rPr>
              <a:t>conditions.”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647950"/>
            <a:ext cx="152400" cy="1587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305300"/>
            <a:ext cx="152400" cy="158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5130800"/>
            <a:ext cx="152400" cy="1587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5962650"/>
            <a:ext cx="152400" cy="158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6788150"/>
            <a:ext cx="152400" cy="1587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7620000"/>
            <a:ext cx="152400" cy="15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2946400"/>
            <a:ext cx="171450" cy="165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09420" y="1148080"/>
            <a:ext cx="13023850" cy="6223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29" sz="4900">
                <a:solidFill>
                  <a:srgbClr val="000000"/>
                </a:solidFill>
                <a:latin typeface="Noto Serif"/>
              </a:rPr>
              <a:t>Why do we need future Development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38630" y="2759710"/>
            <a:ext cx="9782810" cy="527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6" sz="4150">
                <a:solidFill>
                  <a:srgbClr val="000000"/>
                </a:solidFill>
                <a:latin typeface="Roboto"/>
              </a:rPr>
              <a:t>Improve the accuracy of existing systems.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8630" y="3655060"/>
            <a:ext cx="9931400" cy="527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4150">
                <a:solidFill>
                  <a:srgbClr val="000000"/>
                </a:solidFill>
                <a:latin typeface="Roboto"/>
              </a:rPr>
              <a:t>Handle larger and more complex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8630" y="4550410"/>
            <a:ext cx="7118350" cy="527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" sz="4150">
                <a:solidFill>
                  <a:srgbClr val="000000"/>
                </a:solidFill>
                <a:latin typeface="Roboto"/>
              </a:rPr>
              <a:t>Support real-time applications.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8630" y="5445760"/>
            <a:ext cx="10193020" cy="527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" sz="4150">
                <a:solidFill>
                  <a:srgbClr val="000000"/>
                </a:solidFill>
                <a:latin typeface="Roboto"/>
              </a:rPr>
              <a:t>Improve system reliability and performance.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8630" y="6341110"/>
            <a:ext cx="9784080" cy="52704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5" sz="4150">
                <a:solidFill>
                  <a:srgbClr val="000000"/>
                </a:solidFill>
                <a:latin typeface="Roboto"/>
              </a:rPr>
              <a:t>Make AI useful for real-world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8630" y="7236459"/>
            <a:ext cx="15702279" cy="527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7" sz="4150">
                <a:solidFill>
                  <a:srgbClr val="000000"/>
                </a:solidFill>
                <a:latin typeface="Roboto"/>
              </a:rPr>
              <a:t>Example: “Real-time AI can quickly detect a gas leak and generate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8170" y="8131809"/>
            <a:ext cx="6209030" cy="5270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" sz="4150">
                <a:solidFill>
                  <a:srgbClr val="000000"/>
                </a:solidFill>
                <a:latin typeface="Roboto"/>
              </a:rPr>
              <a:t>an immediate safety alert.”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3841750"/>
            <a:ext cx="171450" cy="165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4737100"/>
            <a:ext cx="171450" cy="165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5632450"/>
            <a:ext cx="171450" cy="165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6527800"/>
            <a:ext cx="171450" cy="1651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50" y="7423150"/>
            <a:ext cx="171450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00" y="2940050"/>
            <a:ext cx="190500" cy="190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1000" y="4006850"/>
            <a:ext cx="190500" cy="190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51000" y="5080000"/>
            <a:ext cx="190500" cy="19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1000" y="6146800"/>
            <a:ext cx="190500" cy="196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1000" y="7219950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51000" y="8293100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73620" y="684530"/>
            <a:ext cx="4645659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58" sz="6300">
                <a:solidFill>
                  <a:srgbClr val="000000"/>
                </a:solidFill>
                <a:latin typeface="Noto Serif"/>
              </a:rP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15820" y="2693670"/>
            <a:ext cx="1361948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7" sz="5050">
                <a:solidFill>
                  <a:srgbClr val="000000"/>
                </a:solidFill>
                <a:latin typeface="Roboto"/>
              </a:rPr>
              <a:t>To identify future improvements in existing 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5820" y="3764279"/>
            <a:ext cx="7611109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5050">
                <a:solidFill>
                  <a:srgbClr val="000000"/>
                </a:solidFill>
                <a:latin typeface="Roboto"/>
              </a:rPr>
              <a:t>To explore larger datasets.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15820" y="4834890"/>
            <a:ext cx="999363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5050">
                <a:solidFill>
                  <a:srgbClr val="000000"/>
                </a:solidFill>
                <a:latin typeface="Roboto"/>
              </a:rPr>
              <a:t>To study real-time data processing.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5820" y="5905500"/>
            <a:ext cx="12660630" cy="6400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" sz="5050">
                <a:solidFill>
                  <a:srgbClr val="000000"/>
                </a:solidFill>
                <a:latin typeface="Roboto"/>
              </a:rPr>
              <a:t>To explore deep learning and hybrid models.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5820" y="6976109"/>
            <a:ext cx="9458960" cy="6400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0" sz="5050">
                <a:solidFill>
                  <a:srgbClr val="000000"/>
                </a:solidFill>
                <a:latin typeface="Roboto"/>
              </a:rPr>
              <a:t>To improve model interpretability.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15820" y="8046720"/>
            <a:ext cx="12804140" cy="6388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" sz="5050">
                <a:solidFill>
                  <a:srgbClr val="000000"/>
                </a:solidFill>
                <a:latin typeface="Roboto"/>
              </a:rPr>
              <a:t>To understand research publication potential.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90080" y="603250"/>
            <a:ext cx="5641340" cy="825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1" sz="6500">
                <a:solidFill>
                  <a:srgbClr val="000000"/>
                </a:solidFill>
                <a:latin typeface="Noto Serif"/>
              </a:rP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2339340"/>
            <a:ext cx="9926320" cy="567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4450">
                <a:solidFill>
                  <a:srgbClr val="000000"/>
                </a:solidFill>
                <a:latin typeface="Roboto"/>
              </a:rPr>
              <a:t>Future developments can be applied in: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92630" y="3128010"/>
            <a:ext cx="7465060" cy="5676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1" sz="4450">
                <a:solidFill>
                  <a:srgbClr val="000000"/>
                </a:solidFill>
                <a:latin typeface="Roboto"/>
              </a:rPr>
              <a:t>Real-time monitoring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92630" y="3917950"/>
            <a:ext cx="7119620" cy="5664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4450">
                <a:solidFill>
                  <a:srgbClr val="000000"/>
                </a:solidFill>
                <a:latin typeface="Roboto"/>
              </a:rPr>
              <a:t>AI-based prediction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92630" y="4706620"/>
            <a:ext cx="3959859" cy="5664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1" sz="4450">
                <a:solidFill>
                  <a:srgbClr val="000000"/>
                </a:solidFill>
                <a:latin typeface="Roboto"/>
              </a:rPr>
              <a:t>IoT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92630" y="5495290"/>
            <a:ext cx="7750810" cy="5664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4450">
                <a:solidFill>
                  <a:srgbClr val="000000"/>
                </a:solidFill>
                <a:latin typeface="Roboto"/>
              </a:rPr>
              <a:t>Healthcare and safety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92630" y="6283960"/>
            <a:ext cx="5450840" cy="5664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6" sz="4450">
                <a:solidFill>
                  <a:srgbClr val="000000"/>
                </a:solidFill>
                <a:latin typeface="Roboto"/>
              </a:rPr>
              <a:t>Industrial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92630" y="7072630"/>
            <a:ext cx="6427470" cy="567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sz="4450">
                <a:solidFill>
                  <a:srgbClr val="000000"/>
                </a:solidFill>
                <a:latin typeface="Roboto"/>
              </a:rPr>
              <a:t>Environmental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92630" y="7861300"/>
            <a:ext cx="5670550" cy="5676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8" sz="4450">
                <a:solidFill>
                  <a:srgbClr val="000000"/>
                </a:solidFill>
                <a:latin typeface="Roboto"/>
              </a:rPr>
              <a:t>Smart city applications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92630" y="8651240"/>
            <a:ext cx="6112510" cy="5664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" sz="4450">
                <a:solidFill>
                  <a:srgbClr val="000000"/>
                </a:solidFill>
                <a:latin typeface="Roboto"/>
              </a:rPr>
              <a:t>Cloud-based AI systems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150" y="3327400"/>
            <a:ext cx="177800" cy="1841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4114800"/>
            <a:ext cx="177800" cy="1841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150" y="4908550"/>
            <a:ext cx="177800" cy="177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1150" y="5695950"/>
            <a:ext cx="177800" cy="177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1150" y="6483350"/>
            <a:ext cx="177800" cy="1841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1150" y="7270750"/>
            <a:ext cx="177800" cy="1841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1150" y="8064500"/>
            <a:ext cx="177800" cy="177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1150" y="8851900"/>
            <a:ext cx="177800" cy="17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00570" y="632460"/>
            <a:ext cx="5252720" cy="812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86" sz="6400">
                <a:solidFill>
                  <a:srgbClr val="000000"/>
                </a:solidFill>
                <a:latin typeface="Noto Serif"/>
              </a:rPr>
              <a:t>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47239" y="2618740"/>
            <a:ext cx="8167369" cy="703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0" sz="5550">
                <a:solidFill>
                  <a:srgbClr val="000000"/>
                </a:solidFill>
                <a:latin typeface="Roboto"/>
              </a:rPr>
              <a:t>Improves model accuracy.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239" y="3599179"/>
            <a:ext cx="7633969" cy="704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5550">
                <a:solidFill>
                  <a:srgbClr val="000000"/>
                </a:solidFill>
                <a:latin typeface="Roboto"/>
              </a:rPr>
              <a:t>Handles larger datasets.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47239" y="4580890"/>
            <a:ext cx="9551669" cy="703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5550">
                <a:solidFill>
                  <a:srgbClr val="000000"/>
                </a:solidFill>
                <a:latin typeface="Roboto"/>
              </a:rPr>
              <a:t>Supports real-time processing.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47239" y="5561330"/>
            <a:ext cx="12330429" cy="704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6" sz="5550">
                <a:solidFill>
                  <a:srgbClr val="000000"/>
                </a:solidFill>
                <a:latin typeface="Roboto"/>
              </a:rPr>
              <a:t>Provides better prediction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47239" y="6543040"/>
            <a:ext cx="10767060" cy="7035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" sz="5550">
                <a:solidFill>
                  <a:srgbClr val="000000"/>
                </a:solidFill>
                <a:latin typeface="Roboto"/>
              </a:rPr>
              <a:t>Enables advanced AI applications.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47239" y="7523480"/>
            <a:ext cx="8649969" cy="704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7" sz="5550">
                <a:solidFill>
                  <a:srgbClr val="000000"/>
                </a:solidFill>
                <a:latin typeface="Roboto"/>
              </a:rPr>
              <a:t>Improves practical usability.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47239" y="8505190"/>
            <a:ext cx="11548110" cy="7035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" sz="5550">
                <a:solidFill>
                  <a:srgbClr val="000000"/>
                </a:solidFill>
                <a:latin typeface="Roboto"/>
              </a:rPr>
              <a:t>Supports real-world decision making.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8450" y="2876550"/>
            <a:ext cx="215900" cy="215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8450" y="3854450"/>
            <a:ext cx="215900" cy="2222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8450" y="4838700"/>
            <a:ext cx="215900" cy="215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8450" y="5816600"/>
            <a:ext cx="215900" cy="222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8450" y="6800850"/>
            <a:ext cx="215900" cy="215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8450" y="7778750"/>
            <a:ext cx="215900" cy="2222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8450" y="8763000"/>
            <a:ext cx="2159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41440" y="529590"/>
            <a:ext cx="6457950" cy="800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7" sz="6300">
                <a:solidFill>
                  <a:srgbClr val="000000"/>
                </a:solidFill>
                <a:latin typeface="Noto Serif"/>
              </a:rPr>
              <a:t>Disadvantages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5270" y="2727960"/>
            <a:ext cx="11231880" cy="617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4850">
                <a:solidFill>
                  <a:srgbClr val="000000"/>
                </a:solidFill>
                <a:latin typeface="Roboto"/>
              </a:rPr>
              <a:t>Requires large and high-quality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5270" y="3746500"/>
            <a:ext cx="15697200" cy="618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4850">
                <a:solidFill>
                  <a:srgbClr val="000000"/>
                </a:solidFill>
                <a:latin typeface="Roboto"/>
              </a:rPr>
              <a:t>Advanced models may require high computational power.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5270" y="4766310"/>
            <a:ext cx="10474960" cy="6172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" sz="4850">
                <a:solidFill>
                  <a:srgbClr val="000000"/>
                </a:solidFill>
                <a:latin typeface="Roboto"/>
              </a:rPr>
              <a:t>Real-time processing can be complex.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5270" y="5784850"/>
            <a:ext cx="13590270" cy="61848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4850">
                <a:solidFill>
                  <a:srgbClr val="000000"/>
                </a:solidFill>
                <a:latin typeface="Roboto"/>
              </a:rPr>
              <a:t>Deep learning models may be difficult to interpret.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5270" y="6804659"/>
            <a:ext cx="12604749" cy="6172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4850">
                <a:solidFill>
                  <a:srgbClr val="000000"/>
                </a:solidFill>
                <a:latin typeface="Roboto"/>
              </a:rPr>
              <a:t>Deployment may require additional resources.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5270" y="7823200"/>
            <a:ext cx="15731490" cy="6184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4850">
                <a:solidFill>
                  <a:srgbClr val="000000"/>
                </a:solidFill>
                <a:latin typeface="Roboto"/>
              </a:rPr>
              <a:t>Research requires proper validation and experimentation.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2946400"/>
            <a:ext cx="196850" cy="1968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3968750"/>
            <a:ext cx="196850" cy="1968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4984750"/>
            <a:ext cx="196850" cy="1968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6007100"/>
            <a:ext cx="196850" cy="1968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00" y="7023100"/>
            <a:ext cx="196850" cy="1968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8045450"/>
            <a:ext cx="196850" cy="1968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37959" y="614680"/>
            <a:ext cx="6022340" cy="8255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71" sz="6500">
                <a:solidFill>
                  <a:srgbClr val="000000"/>
                </a:solidFill>
                <a:latin typeface="Noto Serif"/>
              </a:rPr>
              <a:t>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0050" y="2294890"/>
            <a:ext cx="8535670" cy="67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5300">
                <a:solidFill>
                  <a:srgbClr val="000000"/>
                </a:solidFill>
                <a:latin typeface="Roboto"/>
              </a:rPr>
              <a:t>Extension to larger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0050" y="3234690"/>
            <a:ext cx="11868150" cy="67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2" sz="5300">
                <a:solidFill>
                  <a:srgbClr val="000000"/>
                </a:solidFill>
                <a:latin typeface="Roboto"/>
              </a:rPr>
              <a:t>Integration of real-time data processing.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0050" y="4174490"/>
            <a:ext cx="9847580" cy="67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9" sz="5300">
                <a:solidFill>
                  <a:srgbClr val="000000"/>
                </a:solidFill>
                <a:latin typeface="Roboto"/>
              </a:rPr>
              <a:t>Use of deep learning techniques.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40050" y="5113020"/>
            <a:ext cx="10069830" cy="6743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5300">
                <a:solidFill>
                  <a:srgbClr val="000000"/>
                </a:solidFill>
                <a:latin typeface="Roboto"/>
              </a:rPr>
              <a:t>Development of hybrid AI models.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40050" y="6052820"/>
            <a:ext cx="11967210" cy="67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8" sz="5300">
                <a:solidFill>
                  <a:srgbClr val="000000"/>
                </a:solidFill>
                <a:latin typeface="Roboto"/>
              </a:rPr>
              <a:t>Integration with IoT and cloud platforms.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40050" y="6992620"/>
            <a:ext cx="9321800" cy="6731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5300">
                <a:solidFill>
                  <a:srgbClr val="000000"/>
                </a:solidFill>
                <a:latin typeface="Roboto"/>
              </a:rPr>
              <a:t>Improvement of Explainable AI.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40050" y="7931150"/>
            <a:ext cx="13553440" cy="674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" sz="5300">
                <a:solidFill>
                  <a:srgbClr val="000000"/>
                </a:solidFill>
                <a:latin typeface="Roboto"/>
              </a:rPr>
              <a:t>Development of web and mobile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0050" y="8870950"/>
            <a:ext cx="10557510" cy="6743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5300">
                <a:solidFill>
                  <a:srgbClr val="000000"/>
                </a:solidFill>
                <a:latin typeface="Roboto"/>
              </a:rPr>
              <a:t>Real-world deployment and testing.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00" y="2540000"/>
            <a:ext cx="209550" cy="203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800" y="3479800"/>
            <a:ext cx="209550" cy="2032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3800" y="4419600"/>
            <a:ext cx="209550" cy="2032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3800" y="5359400"/>
            <a:ext cx="209550" cy="2032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63800" y="6299200"/>
            <a:ext cx="209550" cy="2032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63800" y="7239000"/>
            <a:ext cx="209550" cy="2032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3800" y="8178800"/>
            <a:ext cx="209550" cy="2032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63800" y="9118600"/>
            <a:ext cx="20955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0" y="670560"/>
            <a:ext cx="8831580" cy="774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1" sz="6100">
                <a:solidFill>
                  <a:srgbClr val="000000"/>
                </a:solidFill>
                <a:latin typeface="Noto Serif"/>
              </a:rPr>
              <a:t>Publication Potential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0830" y="1987550"/>
            <a:ext cx="1287272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3250">
                <a:solidFill>
                  <a:srgbClr val="000000"/>
                </a:solidFill>
                <a:latin typeface="Roboto"/>
              </a:rPr>
              <a:t>The existing work can be converted into a research paper by including: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0600" y="2555240"/>
            <a:ext cx="654558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97" sz="3250">
                <a:solidFill>
                  <a:srgbClr val="000000"/>
                </a:solidFill>
                <a:latin typeface="Roboto"/>
              </a:rPr>
              <a:t>Abstract            •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60600" y="3122930"/>
            <a:ext cx="6728459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16" sz="3250">
                <a:solidFill>
                  <a:srgbClr val="000000"/>
                </a:solidFill>
                <a:latin typeface="Roboto"/>
              </a:rPr>
              <a:t>Literature Review    • 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0600" y="3690620"/>
            <a:ext cx="6361430" cy="4114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45" sz="3250">
                <a:solidFill>
                  <a:srgbClr val="000000"/>
                </a:solidFill>
                <a:latin typeface="Roboto"/>
              </a:rPr>
              <a:t>Results.            •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0600" y="4258310"/>
            <a:ext cx="6819900" cy="4114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80" sz="3250">
                <a:solidFill>
                  <a:srgbClr val="000000"/>
                </a:solidFill>
                <a:latin typeface="Roboto"/>
              </a:rPr>
              <a:t>Conclusion         •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60600" y="4827270"/>
            <a:ext cx="2103120" cy="4102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" sz="3250">
                <a:solidFill>
                  <a:srgbClr val="000000"/>
                </a:solidFill>
                <a:latin typeface="Roboto"/>
              </a:rP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9720" y="5739130"/>
            <a:ext cx="464185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8" b="1" sz="3250">
                <a:solidFill>
                  <a:srgbClr val="000000"/>
                </a:solidFill>
                <a:latin typeface="Roboto"/>
              </a:rPr>
              <a:t>Publication requirements: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9490" y="6306820"/>
            <a:ext cx="2857500" cy="4114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9" sz="3250">
                <a:solidFill>
                  <a:srgbClr val="000000"/>
                </a:solidFill>
                <a:latin typeface="Roboto"/>
              </a:rPr>
              <a:t>Proper citations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9490" y="6875780"/>
            <a:ext cx="5372100" cy="4114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" sz="3250">
                <a:solidFill>
                  <a:srgbClr val="000000"/>
                </a:solidFill>
                <a:latin typeface="Roboto"/>
              </a:rPr>
              <a:t>Original research contribution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9490" y="7443470"/>
            <a:ext cx="3726180" cy="4114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3250">
                <a:solidFill>
                  <a:srgbClr val="000000"/>
                </a:solidFill>
                <a:latin typeface="Roboto"/>
              </a:rPr>
              <a:t>Experimental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9490" y="8011159"/>
            <a:ext cx="3177540" cy="411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1" sz="3250">
                <a:solidFill>
                  <a:srgbClr val="000000"/>
                </a:solidFill>
                <a:latin typeface="Roboto"/>
              </a:rPr>
              <a:t>Proper formatting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9490" y="8578850"/>
            <a:ext cx="5944870" cy="4114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4" sz="3250">
                <a:solidFill>
                  <a:srgbClr val="000000"/>
                </a:solidFill>
                <a:latin typeface="Roboto"/>
              </a:rPr>
              <a:t>Journal or conference guidelines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50" y="2705100"/>
            <a:ext cx="127000" cy="127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6750" y="3276600"/>
            <a:ext cx="127000" cy="120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6750" y="3841750"/>
            <a:ext cx="127000" cy="1270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6750" y="4413250"/>
            <a:ext cx="127000" cy="120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6750" y="4978400"/>
            <a:ext cx="127000" cy="1270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6750" y="6680200"/>
            <a:ext cx="127000" cy="1270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6750" y="7251700"/>
            <a:ext cx="127000" cy="1270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36750" y="7816850"/>
            <a:ext cx="127000" cy="1270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36750" y="8388350"/>
            <a:ext cx="127000" cy="1206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36750" y="8953500"/>
            <a:ext cx="127000" cy="12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12050" y="655320"/>
            <a:ext cx="4442459" cy="73659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43" sz="5800">
                <a:solidFill>
                  <a:srgbClr val="000000"/>
                </a:solidFill>
                <a:latin typeface="Noto Serif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20239" y="2264410"/>
            <a:ext cx="13176250" cy="5245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4150">
                <a:solidFill>
                  <a:srgbClr val="000000"/>
                </a:solidFill>
                <a:latin typeface="Roboto"/>
              </a:rPr>
              <a:t>Future development can improve existing research 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39" y="3168650"/>
            <a:ext cx="8939530" cy="5245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4" sz="4150">
                <a:solidFill>
                  <a:srgbClr val="000000"/>
                </a:solidFill>
                <a:latin typeface="Roboto"/>
              </a:rPr>
              <a:t>Larger datasets can improve reliability.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39" y="4074160"/>
            <a:ext cx="12943840" cy="5245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2" sz="4150">
                <a:solidFill>
                  <a:srgbClr val="000000"/>
                </a:solidFill>
                <a:latin typeface="Roboto"/>
              </a:rPr>
              <a:t>Real-time processing can increase practical usefulness.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39" y="4978400"/>
            <a:ext cx="15336519" cy="5245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4150">
                <a:solidFill>
                  <a:srgbClr val="000000"/>
                </a:solidFill>
                <a:latin typeface="Roboto"/>
              </a:rPr>
              <a:t>Deep learning and hybrid models can provide advanced solutions.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39" y="5883910"/>
            <a:ext cx="9611360" cy="5245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4150">
                <a:solidFill>
                  <a:srgbClr val="000000"/>
                </a:solidFill>
                <a:latin typeface="Roboto"/>
              </a:rPr>
              <a:t>Explainable AI can improve transparency.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39" y="6788150"/>
            <a:ext cx="11485879" cy="5245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7" sz="4150">
                <a:solidFill>
                  <a:srgbClr val="000000"/>
                </a:solidFill>
                <a:latin typeface="Roboto"/>
              </a:rPr>
              <a:t>The work has potential for real-world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39" y="7693659"/>
            <a:ext cx="15102840" cy="5245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4150">
                <a:solidFill>
                  <a:srgbClr val="000000"/>
                </a:solidFill>
                <a:latin typeface="Roboto"/>
              </a:rPr>
              <a:t>A well-structured project can be developed into a research paper.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2444750"/>
            <a:ext cx="1651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3352800"/>
            <a:ext cx="165100" cy="1651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4254500"/>
            <a:ext cx="1651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5162550"/>
            <a:ext cx="165100" cy="1651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6064250"/>
            <a:ext cx="165100" cy="1714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6972300"/>
            <a:ext cx="165100" cy="1651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7874000"/>
            <a:ext cx="1651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9200" y="3898900"/>
            <a:ext cx="869950" cy="2476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515610" y="4621530"/>
            <a:ext cx="6991350" cy="1198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722" sz="9450">
                <a:solidFill>
                  <a:srgbClr val="000000"/>
                </a:solidFill>
                <a:latin typeface="Noto Serif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16570" y="5900420"/>
            <a:ext cx="2054859" cy="8534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827" sz="6700">
                <a:solidFill>
                  <a:srgbClr val="000000"/>
                </a:solidFill>
                <a:latin typeface="Noto Serif"/>
              </a:rPr>
              <a:t>To All...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1850" y="3905250"/>
            <a:ext cx="869950" cy="2476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